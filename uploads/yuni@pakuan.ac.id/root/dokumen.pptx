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742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3.jpe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29500" y="-1429207"/>
            <a:ext cx="5715000" cy="571500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7429500" y="1714500"/>
            <a:ext cx="4286707" cy="4286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7315200" cy="9509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1695" y="2951683"/>
            <a:ext cx="57607" cy="685800"/>
          </a:xfrm>
          <a:prstGeom prst="rect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6154" r="-6154"/>
          <a:stretch/>
        </p:blipFill>
        <p:spPr>
          <a:xfrm>
            <a:off x="761695" y="995782"/>
            <a:ext cx="267005" cy="1901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04595" y="961949"/>
            <a:ext cx="2296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0CAF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 SISTEM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61695" y="1352398"/>
            <a:ext cx="8769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DIGITALISASI MONITORING PENYERAPAN ANGGARAN</a:t>
            </a:r>
            <a:endParaRPr lang="en-US" sz="4500" dirty="0"/>
          </a:p>
        </p:txBody>
      </p:sp>
      <p:sp>
        <p:nvSpPr>
          <p:cNvPr id="12" name="Text 8"/>
          <p:cNvSpPr txBox="1"/>
          <p:nvPr/>
        </p:nvSpPr>
        <p:spPr>
          <a:xfrm>
            <a:off x="1057046" y="2941625"/>
            <a:ext cx="87370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E3F2F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Berbasis Indikator Kinerja Utama (IKU) Melalui Integrasi SIAMIDA Proker x SIAP Anggaran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5667451"/>
            <a:ext cx="55321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Bagian Perencanaan dan Sistem Informasi (BPSI)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6044184"/>
            <a:ext cx="1717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BDE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Universitas Pakuan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0297973" y="5753405"/>
            <a:ext cx="1133856" cy="533095"/>
          </a:xfrm>
          <a:prstGeom prst="roundRect">
            <a:avLst>
              <a:gd name="adj" fmla="val 153149"/>
            </a:avLst>
          </a:prstGeom>
          <a:solidFill>
            <a:srgbClr val="FDD835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10584180" y="5876849"/>
            <a:ext cx="734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47A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34195" y="4476902"/>
            <a:ext cx="3810305" cy="3810305"/>
          </a:xfrm>
          <a:prstGeom prst="ellipse">
            <a:avLst/>
          </a:prstGeom>
          <a:noFill/>
          <a:ln w="5080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rcRect t="181" b="181"/>
          <a:stretch/>
        </p:blipFill>
        <p:spPr>
          <a:xfrm>
            <a:off x="8600846" y="6286500"/>
            <a:ext cx="609905" cy="2862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50654" y="6337706"/>
            <a:ext cx="9144" cy="190195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502445" y="6347765"/>
            <a:ext cx="24067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Digitalisasi Monitoring Anggaran 2025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0305" y="1547165"/>
            <a:ext cx="3666744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810305" y="1547165"/>
            <a:ext cx="38405" cy="1067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038905" y="173736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86123" y="1885493"/>
            <a:ext cx="181051" cy="18105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63256" y="1547165"/>
            <a:ext cx="3666744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763256" y="1547165"/>
            <a:ext cx="38405" cy="1067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991856" y="173736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8115300" y="1885493"/>
            <a:ext cx="228600" cy="1810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810305" y="2896819"/>
            <a:ext cx="3666744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810305" y="2896819"/>
            <a:ext cx="38405" cy="1067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038905" y="308701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86123" y="3235147"/>
            <a:ext cx="181051" cy="18105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763256" y="2896819"/>
            <a:ext cx="3666744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763256" y="2896819"/>
            <a:ext cx="38405" cy="1067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991856" y="308701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1403" r="-1403"/>
          <a:stretch/>
        </p:blipFill>
        <p:spPr>
          <a:xfrm>
            <a:off x="8124444" y="3235147"/>
            <a:ext cx="209398" cy="18105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810305" y="4246474"/>
            <a:ext cx="3666744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3810305" y="4246474"/>
            <a:ext cx="38405" cy="1067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038905" y="443758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1082" r="-1082"/>
          <a:stretch/>
        </p:blipFill>
        <p:spPr>
          <a:xfrm>
            <a:off x="4196182" y="4584802"/>
            <a:ext cx="161849" cy="18105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763256" y="4246474"/>
            <a:ext cx="3666744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7763256" y="4246474"/>
            <a:ext cx="38405" cy="10671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991856" y="443758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1403" r="-1403"/>
          <a:stretch/>
        </p:blipFill>
        <p:spPr>
          <a:xfrm>
            <a:off x="8124444" y="4584802"/>
            <a:ext cx="209398" cy="18105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705502" y="1747418"/>
            <a:ext cx="1859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dan Manfaat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4705502" y="2036369"/>
            <a:ext cx="2465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Urgensi dan value integrasi sistem bagi universitas.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8658454" y="1747418"/>
            <a:ext cx="14886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Catatan Diskusi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8658454" y="2036369"/>
            <a:ext cx="262707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Hasil pembahasan teknis tanggal 25 November 2025.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4705502" y="3097073"/>
            <a:ext cx="1650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Penyesuaian SIAP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705502" y="3386938"/>
            <a:ext cx="264627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Implementasi Anggaran Berbasis IKU pada sistem SIAP.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8658454" y="3097073"/>
            <a:ext cx="2145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Alur Setelah Perubahan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8658454" y="3386938"/>
            <a:ext cx="248442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Transformasi alur kerja dan proses bisnis baru.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4705502" y="4446727"/>
            <a:ext cx="1888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Timeline Pengerjaan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4705502" y="4736592"/>
            <a:ext cx="260878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Jadwal implementasi dan milestone proyek.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8658454" y="4446727"/>
            <a:ext cx="16596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Tampilan Aplikasi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8658454" y="4736592"/>
            <a:ext cx="22183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dan preview SIAP &amp; SIAMIDA.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6"/>
          <p:cNvSpPr/>
          <p:nvPr/>
        </p:nvSpPr>
        <p:spPr>
          <a:xfrm>
            <a:off x="2952598" y="0"/>
            <a:ext cx="95098" cy="6858000"/>
          </a:xfrm>
          <a:prstGeom prst="rect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>
            <a:off x="381305" y="5842102"/>
            <a:ext cx="476402" cy="47549"/>
          </a:xfrm>
          <a:prstGeom prst="rect">
            <a:avLst/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 txBox="1"/>
          <p:nvPr/>
        </p:nvSpPr>
        <p:spPr>
          <a:xfrm>
            <a:off x="190195" y="-437998"/>
            <a:ext cx="2410358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5400" dirty="0"/>
          </a:p>
        </p:txBody>
      </p:sp>
      <p:sp>
        <p:nvSpPr>
          <p:cNvPr id="48" name="Text 39"/>
          <p:cNvSpPr txBox="1"/>
          <p:nvPr/>
        </p:nvSpPr>
        <p:spPr>
          <a:xfrm>
            <a:off x="381305" y="2066544"/>
            <a:ext cx="222199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Rangkaian topik integrasi sistem monitoring anggaran berbasis IKU.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381305" y="6080760"/>
            <a:ext cx="17126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381305" y="914400"/>
            <a:ext cx="18388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2800" dirty="0"/>
          </a:p>
        </p:txBody>
      </p:sp>
      <p:sp>
        <p:nvSpPr>
          <p:cNvPr id="51" name="Text 42"/>
          <p:cNvSpPr txBox="1"/>
          <p:nvPr/>
        </p:nvSpPr>
        <p:spPr>
          <a:xfrm>
            <a:off x="381305" y="1371600"/>
            <a:ext cx="2745943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Pembahasan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3905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0390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5902" y="-952805"/>
            <a:ext cx="4762195" cy="4762195"/>
          </a:xfrm>
          <a:prstGeom prst="ellipse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314554"/>
            <a:ext cx="47786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dan Manfaat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936346"/>
            <a:ext cx="4088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 Sistem SIAMIDA Proker x SIAP Anggaran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49940" y="530352"/>
            <a:ext cx="1077163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DD835">
                    <a:alpha val="3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71500" y="1463954"/>
            <a:ext cx="5333695" cy="4371746"/>
          </a:xfrm>
          <a:prstGeom prst="roundRect">
            <a:avLst>
              <a:gd name="adj" fmla="val 911"/>
            </a:avLst>
          </a:prstGeom>
          <a:solidFill>
            <a:srgbClr val="F5F9FF"/>
          </a:solidFill>
          <a:ln w="12700">
            <a:solidFill>
              <a:srgbClr val="E3F2FD"/>
            </a:solidFill>
            <a:prstDash val="solid"/>
          </a:ln>
          <a:effectLst>
            <a:outerShdw blurRad="241300" dist="1016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" y="1463954"/>
            <a:ext cx="5315407" cy="57607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435047"/>
            <a:ext cx="4647895" cy="19202"/>
          </a:xfrm>
          <a:prstGeom prst="rect">
            <a:avLst/>
          </a:prstGeom>
          <a:solidFill>
            <a:srgbClr val="0D47A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1759306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0D47A1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7105" y="1911096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38605" y="1852574"/>
            <a:ext cx="10405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</a:t>
            </a:r>
            <a:endParaRPr lang="en-US" sz="1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2740457"/>
            <a:ext cx="171907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28954" y="2711196"/>
            <a:ext cx="40443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Mengintegrasikan sistem SIAMIDA Proker dengan SIAP Anggaran untuk monitoring real-time.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3391510"/>
            <a:ext cx="171907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28954" y="3363163"/>
            <a:ext cx="41111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Mendigitalisasi proses monitoring penyerapan anggaran berbasis Indikator Kinerja Utama (IKU).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4043477"/>
            <a:ext cx="171907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28954" y="4015130"/>
            <a:ext cx="41495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Meningkatkan akurasi dan transparansi dalam pelaporan anggaran universitas.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4694530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28954" y="4666183"/>
            <a:ext cx="36447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Menyederhanakan alur kerja sistematis mulai dari perencanaan hingga pelaporan.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286500" y="1463954"/>
            <a:ext cx="5333695" cy="4371746"/>
          </a:xfrm>
          <a:prstGeom prst="roundRect">
            <a:avLst>
              <a:gd name="adj" fmla="val 911"/>
            </a:avLst>
          </a:prstGeom>
          <a:solidFill>
            <a:srgbClr val="FFFDE7"/>
          </a:solidFill>
          <a:ln w="12700">
            <a:solidFill>
              <a:srgbClr val="FFF9C4"/>
            </a:solidFill>
            <a:prstDash val="solid"/>
          </a:ln>
          <a:effectLst>
            <a:outerShdw blurRad="241300" dist="1016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6286500" y="1463954"/>
            <a:ext cx="5315407" cy="57607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6629400" y="2435047"/>
            <a:ext cx="4647895" cy="19202"/>
          </a:xfrm>
          <a:prstGeom prst="rect">
            <a:avLst/>
          </a:prstGeom>
          <a:solidFill>
            <a:srgbClr val="F9A82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6629400" y="1759306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9A825"/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810451" y="1911096"/>
            <a:ext cx="171907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53605" y="1852574"/>
            <a:ext cx="1240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65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Manfaat</a:t>
            </a:r>
            <a:endParaRPr lang="en-US" sz="19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629400" y="2740457"/>
            <a:ext cx="190195" cy="17190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963156" y="2711196"/>
            <a:ext cx="42254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Efisiensi proses pengajuan dan monitoring anggaran yang signifikan.</a:t>
            </a:r>
            <a:endParaRPr lang="en-US" sz="12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629400" y="3391510"/>
            <a:ext cx="190195" cy="171907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63156" y="3363163"/>
            <a:ext cx="41687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terintegrasi penuh antara program kerja unit dengan realisasi anggaran.</a:t>
            </a:r>
            <a:endParaRPr lang="en-US" sz="12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629400" y="4043477"/>
            <a:ext cx="190195" cy="1719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963156" y="4015130"/>
            <a:ext cx="417789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Analisis penyerapan anggaran berbasis IKU menjadi lebih akurat.</a:t>
            </a:r>
            <a:endParaRPr lang="en-US" sz="12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629400" y="4694530"/>
            <a:ext cx="190195" cy="171907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63156" y="4666183"/>
            <a:ext cx="40443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Kemudahan tracking dan pelaporan untuk pengambilan keputusan strategis.</a:t>
            </a:r>
            <a:endParaRPr lang="en-US" sz="12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6629400" y="5346497"/>
            <a:ext cx="190195" cy="171907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963156" y="5318150"/>
            <a:ext cx="39209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Mendukung inisiatif Paperless dan ramah lingkungan.</a:t>
            </a:r>
            <a:endParaRPr lang="en-US" sz="1200" dirty="0"/>
          </a:p>
        </p:txBody>
      </p:sp>
      <p:sp>
        <p:nvSpPr>
          <p:cNvPr id="38" name="Shape 25"/>
          <p:cNvSpPr/>
          <p:nvPr/>
        </p:nvSpPr>
        <p:spPr>
          <a:xfrm>
            <a:off x="0" y="6310274"/>
            <a:ext cx="12191695" cy="7242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26"/>
          <p:cNvSpPr/>
          <p:nvPr/>
        </p:nvSpPr>
        <p:spPr>
          <a:xfrm>
            <a:off x="0" y="6310274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7"/>
          <a:srcRect t="181" b="181"/>
          <a:stretch/>
        </p:blipFill>
        <p:spPr>
          <a:xfrm>
            <a:off x="571500" y="6462979"/>
            <a:ext cx="609905" cy="286207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1321308" y="6502298"/>
            <a:ext cx="9144" cy="20939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28"/>
          <p:cNvSpPr txBox="1"/>
          <p:nvPr/>
        </p:nvSpPr>
        <p:spPr>
          <a:xfrm>
            <a:off x="1473098" y="6521501"/>
            <a:ext cx="31135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Bagian Perencanaan dan Sistem Informasi (BPSI)</a:t>
            </a:r>
            <a:endParaRPr lang="en-US" sz="1000" dirty="0"/>
          </a:p>
        </p:txBody>
      </p:sp>
      <p:sp>
        <p:nvSpPr>
          <p:cNvPr id="43" name="Text 29"/>
          <p:cNvSpPr txBox="1"/>
          <p:nvPr/>
        </p:nvSpPr>
        <p:spPr>
          <a:xfrm>
            <a:off x="10112350" y="6521501"/>
            <a:ext cx="16175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Universitas Pakuan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2500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1250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391656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6543446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6801307"/>
            <a:ext cx="15069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22508" y="6681521"/>
            <a:ext cx="8028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Halaman 04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1162202"/>
            <a:ext cx="12191695" cy="1920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71500" y="286207"/>
            <a:ext cx="315742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A. SIAP Anggaran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473184" y="434340"/>
            <a:ext cx="2152498" cy="381305"/>
          </a:xfrm>
          <a:prstGeom prst="roundRect">
            <a:avLst>
              <a:gd name="adj" fmla="val 239808"/>
            </a:avLst>
          </a:prstGeom>
          <a:solidFill>
            <a:srgbClr val="FFF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71500" y="736092"/>
            <a:ext cx="31528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7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 Penyesuaian Sistem &amp; Alur Proses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664294" y="539496"/>
            <a:ext cx="133502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873691" y="510235"/>
            <a:ext cx="1677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A8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Diskusi: 25 Nov 2025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1500" y="1459382"/>
            <a:ext cx="3314700" cy="2476195"/>
          </a:xfrm>
          <a:prstGeom prst="roundRect">
            <a:avLst>
              <a:gd name="adj" fmla="val 2272"/>
            </a:avLst>
          </a:prstGeom>
          <a:solidFill>
            <a:srgbClr val="F5F9FF"/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1699870"/>
            <a:ext cx="171907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03629" y="1672437"/>
            <a:ext cx="22594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Anggaran Mata Program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1754" y="2053742"/>
            <a:ext cx="2915107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71754" y="2053742"/>
            <a:ext cx="38405" cy="1114654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952805" y="2215591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Penambahan Field Baru: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952805" y="2505456"/>
            <a:ext cx="161849" cy="1810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6727" y="2396642"/>
            <a:ext cx="213786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IKU (Indikator Kinerja Utama)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71754" y="3326587"/>
            <a:ext cx="264627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Setiap mata program kini wajib terhubung dengan IKU universitas.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172407" y="1459382"/>
            <a:ext cx="7448702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71746" y="1699870"/>
            <a:ext cx="171907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3297" y="1673351"/>
            <a:ext cx="25264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Alur Penyesuaian Anggaran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023153" y="2885846"/>
            <a:ext cx="181051" cy="19202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7806233" y="2885846"/>
            <a:ext cx="181051" cy="19202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9589313" y="2885846"/>
            <a:ext cx="181051" cy="19202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571500" y="4174236"/>
            <a:ext cx="4419295" cy="1837944"/>
          </a:xfrm>
          <a:prstGeom prst="roundRect">
            <a:avLst>
              <a:gd name="adj" fmla="val 4124"/>
            </a:avLst>
          </a:prstGeom>
          <a:solidFill>
            <a:srgbClr val="FFFDE7"/>
          </a:solidFill>
          <a:ln w="12700">
            <a:solidFill>
              <a:srgbClr val="FFF9C4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1754" y="4413809"/>
            <a:ext cx="171907" cy="17190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86307" y="4418380"/>
            <a:ext cx="15361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Catatan Penting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771754" y="4768596"/>
            <a:ext cx="412851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Manajemen Mata Program (Tambah/Ubah/Hapus) dilakukan sepenuhnya di SIAP.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771754" y="5287975"/>
            <a:ext cx="412851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Pengaturan Master IKU per Tahun dikelola terpusat di modul admin SIAP.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277002" y="4174236"/>
            <a:ext cx="6344107" cy="1837944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477256" y="4413809"/>
            <a:ext cx="171907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741060" y="4361965"/>
            <a:ext cx="27075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 Laporan Anggaran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5477256" y="4768596"/>
            <a:ext cx="1886407" cy="1438351"/>
          </a:xfrm>
          <a:prstGeom prst="roundRect">
            <a:avLst>
              <a:gd name="adj" fmla="val 4210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67298" y="5117897"/>
            <a:ext cx="304495" cy="30449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809183" y="5518404"/>
            <a:ext cx="13258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Anggaran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6046013" y="5686654"/>
            <a:ext cx="8503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Berbasis IKU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505395" y="4768596"/>
            <a:ext cx="1886407" cy="1438351"/>
          </a:xfrm>
          <a:prstGeom prst="roundRect">
            <a:avLst>
              <a:gd name="adj" fmla="val 4210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50" r="-50"/>
          <a:stretch/>
        </p:blipFill>
        <p:spPr>
          <a:xfrm>
            <a:off x="8277149" y="5117897"/>
            <a:ext cx="342900" cy="30449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837322" y="5518404"/>
            <a:ext cx="13258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Anggaran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8033004" y="5686654"/>
            <a:ext cx="9354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Mata Program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9534449" y="4768596"/>
            <a:ext cx="1886407" cy="1438351"/>
          </a:xfrm>
          <a:prstGeom prst="roundRect">
            <a:avLst>
              <a:gd name="adj" fmla="val 421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325405" y="5117897"/>
            <a:ext cx="304495" cy="30449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9890150" y="5518404"/>
            <a:ext cx="12783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Analisis Penyerapan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9893808" y="5686654"/>
            <a:ext cx="12691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Mata Program x IKU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4466844" y="2527402"/>
            <a:ext cx="1514246" cy="743407"/>
          </a:xfrm>
          <a:prstGeom prst="roundRect">
            <a:avLst>
              <a:gd name="adj" fmla="val 15769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  <a:effectLst>
            <a:outerShdw blurRad="63500" dist="38100" dir="5400000" algn="bl" rotWithShape="0">
              <a:srgbClr val="0D47A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39"/>
          <p:cNvSpPr txBox="1"/>
          <p:nvPr/>
        </p:nvSpPr>
        <p:spPr>
          <a:xfrm>
            <a:off x="4896612" y="2708453"/>
            <a:ext cx="7607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Pengajuan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4925873" y="2914193"/>
            <a:ext cx="7031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Anggaran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6249924" y="2527402"/>
            <a:ext cx="1514246" cy="743407"/>
          </a:xfrm>
          <a:prstGeom prst="roundRect">
            <a:avLst>
              <a:gd name="adj" fmla="val 15769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  <a:effectLst>
            <a:outerShdw blurRad="63500" dist="38100" dir="5400000" algn="bl" rotWithShape="0">
              <a:srgbClr val="0D47A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42"/>
          <p:cNvSpPr txBox="1"/>
          <p:nvPr/>
        </p:nvSpPr>
        <p:spPr>
          <a:xfrm>
            <a:off x="6676034" y="2708453"/>
            <a:ext cx="7607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Penetapan</a:t>
            </a:r>
            <a:endParaRPr lang="en-US" sz="1000" dirty="0"/>
          </a:p>
        </p:txBody>
      </p:sp>
      <p:sp>
        <p:nvSpPr>
          <p:cNvPr id="55" name="Text 43"/>
          <p:cNvSpPr txBox="1"/>
          <p:nvPr/>
        </p:nvSpPr>
        <p:spPr>
          <a:xfrm>
            <a:off x="6708953" y="2914193"/>
            <a:ext cx="7031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Anggaran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8033004" y="2527402"/>
            <a:ext cx="1514246" cy="743407"/>
          </a:xfrm>
          <a:prstGeom prst="roundRect">
            <a:avLst>
              <a:gd name="adj" fmla="val 15769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  <a:effectLst>
            <a:outerShdw blurRad="63500" dist="38100" dir="5400000" algn="bl" rotWithShape="0">
              <a:srgbClr val="0D47A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45"/>
          <p:cNvSpPr txBox="1"/>
          <p:nvPr/>
        </p:nvSpPr>
        <p:spPr>
          <a:xfrm>
            <a:off x="8396935" y="2708453"/>
            <a:ext cx="8942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Penyesuaian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8492033" y="2914193"/>
            <a:ext cx="7031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Anggaran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9816998" y="2527402"/>
            <a:ext cx="1514246" cy="743407"/>
          </a:xfrm>
          <a:prstGeom prst="roundRect">
            <a:avLst>
              <a:gd name="adj" fmla="val 15769"/>
            </a:avLst>
          </a:prstGeom>
          <a:solidFill>
            <a:srgbClr val="0D47A1"/>
          </a:solidFill>
          <a:ln w="25400">
            <a:solidFill>
              <a:srgbClr val="0D47A1"/>
            </a:solidFill>
            <a:prstDash val="solid"/>
          </a:ln>
          <a:effectLst>
            <a:outerShdw blurRad="63500" dist="38100" dir="5400000" algn="bl" rotWithShape="0">
              <a:srgbClr val="0D47A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48"/>
          <p:cNvSpPr txBox="1"/>
          <p:nvPr/>
        </p:nvSpPr>
        <p:spPr>
          <a:xfrm>
            <a:off x="10124237" y="2708453"/>
            <a:ext cx="9985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Penetapan FIX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10347350" y="2914193"/>
            <a:ext cx="5513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SIAP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960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-112472"/>
            <a:ext cx="12191695" cy="8096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24961" y="7653528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63663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7515454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7772400"/>
            <a:ext cx="15069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22508" y="7653528"/>
            <a:ext cx="8028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Halaman 05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1162202"/>
            <a:ext cx="12191695" cy="1920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71500" y="286207"/>
            <a:ext cx="369966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B. SIAMIDA SIPROKER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473184" y="434340"/>
            <a:ext cx="2152498" cy="381305"/>
          </a:xfrm>
          <a:prstGeom prst="roundRect">
            <a:avLst>
              <a:gd name="adj" fmla="val 239808"/>
            </a:avLst>
          </a:prstGeom>
          <a:solidFill>
            <a:srgbClr val="FFF9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71500" y="736092"/>
            <a:ext cx="3629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777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Penyesuaian Alur Pelaporan &amp; Data Anggaran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664294" y="539496"/>
            <a:ext cx="133502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873691" y="510235"/>
            <a:ext cx="16770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A82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Diskusi: 25 Nov 2025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1500" y="1459382"/>
            <a:ext cx="3314700" cy="2476195"/>
          </a:xfrm>
          <a:prstGeom prst="roundRect">
            <a:avLst>
              <a:gd name="adj" fmla="val 2272"/>
            </a:avLst>
          </a:prstGeom>
          <a:solidFill>
            <a:srgbClr val="F5F9FF"/>
          </a:solidFill>
          <a:ln w="12700">
            <a:solidFill>
              <a:srgbClr val="E3F2FD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771754" y="1699870"/>
            <a:ext cx="190195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57046" y="1667908"/>
            <a:ext cx="13642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Mata Program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1754" y="2053742"/>
            <a:ext cx="2915107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71754" y="2053742"/>
            <a:ext cx="38405" cy="14859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952805" y="2234794"/>
            <a:ext cx="133502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62202" y="2215591"/>
            <a:ext cx="1314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View Only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2530145"/>
            <a:ext cx="246522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Mata program di SIAMIDA hanya untuk dilihat. Field IKU ditampilkan, namun tanpa nominal anggaran.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3236062"/>
            <a:ext cx="123444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14654" y="3229661"/>
            <a:ext cx="19202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651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Perubahan data dilakukan di SIAP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172407" y="1459382"/>
            <a:ext cx="7448702" cy="247619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71746" y="1699870"/>
            <a:ext cx="171907" cy="1719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43654" y="1659636"/>
            <a:ext cx="29644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Alur Pelaporan Baru (Sekuensial)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572707" y="2885846"/>
            <a:ext cx="247802" cy="19202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8973007" y="2885846"/>
            <a:ext cx="247802" cy="19202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571500" y="4174236"/>
            <a:ext cx="5524805" cy="2809951"/>
          </a:xfrm>
          <a:prstGeom prst="roundRect">
            <a:avLst>
              <a:gd name="adj" fmla="val 1765"/>
            </a:avLst>
          </a:prstGeom>
          <a:solidFill>
            <a:srgbClr val="FFFDE7"/>
          </a:solidFill>
          <a:ln w="12700">
            <a:solidFill>
              <a:srgbClr val="FFF9C4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1754" y="4413809"/>
            <a:ext cx="171907" cy="17190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70050" y="4374490"/>
            <a:ext cx="177393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 Penyesuaian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71754" y="4768596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Perubahan Logika Alur: Wajib lapor dokumen terlebih dahulu dan terverifikasi, baru menu pelaporan pelaksanaan dapat diakses.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771754" y="5368442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Tujuan: Memastikan kelengkapan administrasi sebelum realisasi kegiatan dicatat.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417259" y="4174236"/>
            <a:ext cx="5238598" cy="2809951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10198" y="4413809"/>
            <a:ext cx="171907" cy="17190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904177" y="4386833"/>
            <a:ext cx="21927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Penambahan Field Data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6610198" y="4787798"/>
            <a:ext cx="48527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Pada form Pelaporan Pelaksanaan, ditambahkan isian baru untuk tracking realisasi: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6610198" y="5345582"/>
            <a:ext cx="4809744" cy="1438351"/>
          </a:xfrm>
          <a:prstGeom prst="roundRect">
            <a:avLst>
              <a:gd name="adj" fmla="val 3368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6810451" y="5565038"/>
            <a:ext cx="16367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Realisasi Anggaran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8413394" y="5553151"/>
            <a:ext cx="400507" cy="200254"/>
          </a:xfrm>
          <a:prstGeom prst="roundRect">
            <a:avLst>
              <a:gd name="adj" fmla="val 86975"/>
            </a:avLst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 txBox="1"/>
          <p:nvPr/>
        </p:nvSpPr>
        <p:spPr>
          <a:xfrm>
            <a:off x="8471002" y="5581498"/>
            <a:ext cx="36576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BARU</a:t>
            </a:r>
            <a:endParaRPr lang="en-US" sz="8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924751" y="5999378"/>
            <a:ext cx="152705" cy="152705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6810451" y="5827471"/>
            <a:ext cx="4410151" cy="495605"/>
          </a:xfrm>
          <a:prstGeom prst="roundRect">
            <a:avLst>
              <a:gd name="adj" fmla="val 21289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810451" y="6423660"/>
            <a:ext cx="123444" cy="123444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972300" y="6418174"/>
            <a:ext cx="278709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ini akan terintegrasi dengan monitoring SIAP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4562856" y="2114093"/>
            <a:ext cx="18672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  <a:effectLst>
            <a:outerShdw blurRad="63500" dist="38100" dir="5400000" algn="bl" rotWithShape="0">
              <a:srgbClr val="0D47A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5410505" y="2323490"/>
            <a:ext cx="171907" cy="228600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5149901" y="2627986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Pelaporan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5170932" y="3237890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Dokumen</a:t>
            </a:r>
            <a:endParaRPr lang="en-US" sz="1200" dirty="0"/>
          </a:p>
        </p:txBody>
      </p:sp>
      <p:sp>
        <p:nvSpPr>
          <p:cNvPr id="51" name="Shape 38"/>
          <p:cNvSpPr/>
          <p:nvPr/>
        </p:nvSpPr>
        <p:spPr>
          <a:xfrm>
            <a:off x="6963156" y="2114093"/>
            <a:ext cx="186720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  <a:effectLst>
            <a:outerShdw blurRad="63500" dist="38100" dir="5400000" algn="bl" rotWithShape="0">
              <a:srgbClr val="0D47A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7810805" y="2323490"/>
            <a:ext cx="171907" cy="22860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7574890" y="2627986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Verifikasi</a:t>
            </a:r>
            <a:endParaRPr lang="en-US" sz="1200" dirty="0"/>
          </a:p>
        </p:txBody>
      </p:sp>
      <p:sp>
        <p:nvSpPr>
          <p:cNvPr id="54" name="Text 40"/>
          <p:cNvSpPr txBox="1"/>
          <p:nvPr/>
        </p:nvSpPr>
        <p:spPr>
          <a:xfrm>
            <a:off x="7571232" y="3237890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Dokumen</a:t>
            </a:r>
            <a:endParaRPr lang="en-US" sz="1200" dirty="0"/>
          </a:p>
        </p:txBody>
      </p:sp>
      <p:sp>
        <p:nvSpPr>
          <p:cNvPr id="55" name="Shape 41"/>
          <p:cNvSpPr/>
          <p:nvPr/>
        </p:nvSpPr>
        <p:spPr>
          <a:xfrm>
            <a:off x="9363456" y="2114093"/>
            <a:ext cx="1867205" cy="1561795"/>
          </a:xfrm>
          <a:prstGeom prst="roundRect">
            <a:avLst>
              <a:gd name="adj" fmla="val 4284"/>
            </a:avLst>
          </a:prstGeom>
          <a:solidFill>
            <a:srgbClr val="0D47A1"/>
          </a:solidFill>
          <a:ln w="25400">
            <a:solidFill>
              <a:srgbClr val="0D47A1"/>
            </a:solidFill>
            <a:prstDash val="solid"/>
          </a:ln>
          <a:effectLst>
            <a:outerShdw blurRad="63500" dist="38100" dir="5400000" algn="bl" rotWithShape="0">
              <a:srgbClr val="0D47A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181844" y="2323490"/>
            <a:ext cx="228600" cy="22860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9950501" y="2627986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Pelaporan</a:t>
            </a:r>
            <a:endParaRPr lang="en-US" sz="1200" dirty="0"/>
          </a:p>
        </p:txBody>
      </p:sp>
      <p:sp>
        <p:nvSpPr>
          <p:cNvPr id="58" name="Text 43"/>
          <p:cNvSpPr txBox="1"/>
          <p:nvPr/>
        </p:nvSpPr>
        <p:spPr>
          <a:xfrm>
            <a:off x="9859061" y="3237890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Pelaksanaan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130138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130138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6282842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6520586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21924" y="6401714"/>
            <a:ext cx="8979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Halaman 06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47802"/>
            <a:ext cx="433425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Timeline Pengerjaan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800100"/>
            <a:ext cx="40032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 Implementasi Integrasi Sistem 2025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031322" y="340157"/>
            <a:ext cx="93360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DD835">
                    <a:alpha val="3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809598" y="4223614"/>
            <a:ext cx="8572500" cy="1076249"/>
          </a:xfrm>
          <a:prstGeom prst="roundRect">
            <a:avLst>
              <a:gd name="adj" fmla="val 9022"/>
            </a:avLst>
          </a:prstGeom>
          <a:solidFill>
            <a:srgbClr val="F5F9FF"/>
          </a:solidFill>
          <a:ln w="12700">
            <a:solidFill>
              <a:srgbClr val="BBDEFB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04949" y="4567428"/>
            <a:ext cx="381305" cy="38130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23998" y="4677156"/>
            <a:ext cx="6743700" cy="418795"/>
          </a:xfrm>
          <a:prstGeom prst="roundRect">
            <a:avLst>
              <a:gd name="adj" fmla="val 2977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2876702" y="4817974"/>
            <a:ext cx="171907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723998" y="4423867"/>
            <a:ext cx="27989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 PROJECT DASHBOARD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3124505" y="4800600"/>
            <a:ext cx="68854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https://docs.google.com/spreadsheets/d/1NieYbL1t0jY5e-lzhZv3uv5Yg861Lh8UqtJq2cpxtsE/edit?usp=sharing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658807" y="4481474"/>
            <a:ext cx="504749" cy="562356"/>
          </a:xfrm>
          <a:prstGeom prst="roundRect">
            <a:avLst>
              <a:gd name="adj" fmla="val 17091"/>
            </a:avLst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01454" y="4573829"/>
            <a:ext cx="133502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58807" y="4786884"/>
            <a:ext cx="4599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71500" y="2746858"/>
            <a:ext cx="11048695" cy="3840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71500" y="2746858"/>
            <a:ext cx="7733995" cy="38405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1082650" y="2141525"/>
            <a:ext cx="523951" cy="523951"/>
          </a:xfrm>
          <a:prstGeom prst="ellipse">
            <a:avLst/>
          </a:prstGeom>
          <a:solidFill>
            <a:srgbClr val="0D47A1"/>
          </a:solidFill>
          <a:ln w="38100">
            <a:solidFill>
              <a:srgbClr val="0D47A1"/>
            </a:solidFill>
            <a:prstDash val="solid"/>
          </a:ln>
          <a:effectLst>
            <a:outerShdw blurRad="12700" dist="12700" dir="16200000" algn="bl" rotWithShape="0">
              <a:srgbClr val="0D47A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t="-2584" b="-2584"/>
          <a:stretch/>
        </p:blipFill>
        <p:spPr>
          <a:xfrm>
            <a:off x="1250899" y="2293315"/>
            <a:ext cx="190195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80821" y="2784348"/>
            <a:ext cx="6428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Inisiasi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872338" y="3039466"/>
            <a:ext cx="10442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Perencanaan &amp;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850392" y="3198571"/>
            <a:ext cx="10826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Kick-off Meeting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666390" y="2141525"/>
            <a:ext cx="523951" cy="523951"/>
          </a:xfrm>
          <a:prstGeom prst="ellipse">
            <a:avLst/>
          </a:prstGeom>
          <a:solidFill>
            <a:srgbClr val="0D47A1"/>
          </a:solidFill>
          <a:ln w="38100">
            <a:solidFill>
              <a:srgbClr val="0D47A1"/>
            </a:solidFill>
            <a:prstDash val="solid"/>
          </a:ln>
          <a:effectLst>
            <a:outerShdw blurRad="12700" dist="12700" dir="16200000" algn="bl" rotWithShape="0">
              <a:srgbClr val="0D47A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18181" y="2293315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632558" y="2784348"/>
            <a:ext cx="708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Analisis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2365553" y="3039466"/>
            <a:ext cx="12252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Kebutuhan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2553005" y="3198571"/>
            <a:ext cx="8439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&amp; IKU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250131" y="2141525"/>
            <a:ext cx="523951" cy="523951"/>
          </a:xfrm>
          <a:prstGeom prst="ellipse">
            <a:avLst/>
          </a:prstGeom>
          <a:solidFill>
            <a:srgbClr val="0D47A1"/>
          </a:solidFill>
          <a:ln w="38100">
            <a:solidFill>
              <a:srgbClr val="0D47A1"/>
            </a:solidFill>
            <a:prstDash val="solid"/>
          </a:ln>
          <a:effectLst>
            <a:outerShdw blurRad="12700" dist="12700" dir="16200000" algn="bl" rotWithShape="0">
              <a:srgbClr val="0D47A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t="-1738" b="-1738"/>
          <a:stretch/>
        </p:blipFill>
        <p:spPr>
          <a:xfrm>
            <a:off x="4376318" y="2293315"/>
            <a:ext cx="276149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909974" y="2784348"/>
            <a:ext cx="13185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Pengembangan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3909974" y="3039466"/>
            <a:ext cx="13011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Coding &amp; Modifikasi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4182466" y="3198571"/>
            <a:ext cx="7589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 SIAP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5833872" y="2141525"/>
            <a:ext cx="523951" cy="523951"/>
          </a:xfrm>
          <a:prstGeom prst="ellipse">
            <a:avLst/>
          </a:prstGeom>
          <a:solidFill>
            <a:srgbClr val="0D47A1"/>
          </a:solidFill>
          <a:ln w="38100">
            <a:solidFill>
              <a:srgbClr val="0D47A1"/>
            </a:solidFill>
            <a:prstDash val="solid"/>
          </a:ln>
          <a:effectLst>
            <a:outerShdw blurRad="12700" dist="12700" dir="16200000" algn="bl" rotWithShape="0">
              <a:srgbClr val="0D47A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t="-1738" b="-1738"/>
          <a:stretch/>
        </p:blipFill>
        <p:spPr>
          <a:xfrm>
            <a:off x="5960059" y="2293315"/>
            <a:ext cx="276149" cy="2286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760720" y="2784348"/>
            <a:ext cx="7854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5623560" y="3039466"/>
            <a:ext cx="10442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Penghubungan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5663794" y="3198571"/>
            <a:ext cx="9582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SIAMIDA x SIAP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7441387" y="2165299"/>
            <a:ext cx="476402" cy="47640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DBDBD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88606" y="2313432"/>
            <a:ext cx="181051" cy="181051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370978" y="2784348"/>
            <a:ext cx="7278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Uji Coba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7211873" y="3039466"/>
            <a:ext cx="10351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Testing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7314286" y="3198571"/>
            <a:ext cx="82570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Bug Fixing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9025128" y="2165299"/>
            <a:ext cx="476402" cy="47640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DBDBD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 l="-505" r="-505"/>
          <a:stretch/>
        </p:blipFill>
        <p:spPr>
          <a:xfrm>
            <a:off x="9148572" y="2313432"/>
            <a:ext cx="228600" cy="181051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9116568" y="2784348"/>
            <a:ext cx="4041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UAT</a:t>
            </a:r>
            <a:endParaRPr lang="en-US" sz="1100" dirty="0"/>
          </a:p>
        </p:txBody>
      </p:sp>
      <p:sp>
        <p:nvSpPr>
          <p:cNvPr id="51" name="Text 39"/>
          <p:cNvSpPr txBox="1"/>
          <p:nvPr/>
        </p:nvSpPr>
        <p:spPr>
          <a:xfrm>
            <a:off x="8742578" y="3039466"/>
            <a:ext cx="113934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Acceptance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9043416" y="3198571"/>
            <a:ext cx="5394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10608869" y="2165299"/>
            <a:ext cx="476402" cy="47640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DBDBD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756087" y="2313432"/>
            <a:ext cx="181051" cy="181051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10557662" y="2784348"/>
            <a:ext cx="6903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Go-Live</a:t>
            </a:r>
            <a:endParaRPr lang="en-US" sz="1100" dirty="0"/>
          </a:p>
        </p:txBody>
      </p:sp>
      <p:sp>
        <p:nvSpPr>
          <p:cNvPr id="56" name="Text 43"/>
          <p:cNvSpPr txBox="1"/>
          <p:nvPr/>
        </p:nvSpPr>
        <p:spPr>
          <a:xfrm>
            <a:off x="10501884" y="3039466"/>
            <a:ext cx="7872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Peluncuran</a:t>
            </a:r>
            <a:endParaRPr lang="en-US" sz="900" dirty="0"/>
          </a:p>
        </p:txBody>
      </p:sp>
      <p:sp>
        <p:nvSpPr>
          <p:cNvPr id="57" name="Text 44"/>
          <p:cNvSpPr txBox="1"/>
          <p:nvPr/>
        </p:nvSpPr>
        <p:spPr>
          <a:xfrm>
            <a:off x="10641787" y="3198571"/>
            <a:ext cx="511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130138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130138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6282842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6520586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33811" y="6401714"/>
            <a:ext cx="8878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Halaman 07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47802"/>
            <a:ext cx="516636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Penyesuaian SIAP Anggaran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736092"/>
            <a:ext cx="3715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 Berbasis Indikator Kinerja Utama (IKU)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077956" y="300838"/>
            <a:ext cx="886054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DD835">
                    <a:alpha val="3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3600" dirty="0"/>
          </a:p>
        </p:txBody>
      </p:sp>
      <p:pic>
        <p:nvPicPr>
          <p:cNvPr id="52" name="Google Shape;92;p19" title="PUTIK FLOW 2 (1).png">
            <a:extLst>
              <a:ext uri="{FF2B5EF4-FFF2-40B4-BE49-F238E27FC236}">
                <a16:creationId xmlns:a16="http://schemas.microsoft.com/office/drawing/2014/main" id="{9AEC5132-1195-EA58-2C80-0B52CAE690D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47" y="1193292"/>
            <a:ext cx="10531932" cy="4712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100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2100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477610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6629400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6887261"/>
            <a:ext cx="150693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22508" y="6767474"/>
            <a:ext cx="8028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Halaman 08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286207"/>
            <a:ext cx="6796863" cy="346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- SIAMIDA </a:t>
            </a:r>
            <a:r>
              <a:rPr lang="en-US" sz="2600" b="1" dirty="0" err="1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Proker</a:t>
            </a:r>
            <a:r>
              <a:rPr lang="en-US" sz="2600" b="1" dirty="0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600" b="1" dirty="0" err="1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Berbasis</a:t>
            </a:r>
            <a:r>
              <a:rPr lang="en-US" sz="2600" b="1" dirty="0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IKU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987991" y="425196"/>
            <a:ext cx="1638605" cy="400507"/>
          </a:xfrm>
          <a:prstGeom prst="roundRect">
            <a:avLst>
              <a:gd name="adj" fmla="val 228311"/>
            </a:avLst>
          </a:prstGeom>
          <a:solidFill>
            <a:srgbClr val="EEEEEE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71500" y="736092"/>
            <a:ext cx="40672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Kondisi Sistem Pelaporan Lama (Sebelum Integrasi)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88245" y="539496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416845" y="510235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575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Lama</a:t>
            </a:r>
            <a:endParaRPr lang="en-US" sz="1200" dirty="0"/>
          </a:p>
        </p:txBody>
      </p:sp>
      <p:pic>
        <p:nvPicPr>
          <p:cNvPr id="48" name="Google Shape;98;p20" title="PUTIK FLOW 2 - SIAMIDA X SIAP (1).png">
            <a:extLst>
              <a:ext uri="{FF2B5EF4-FFF2-40B4-BE49-F238E27FC236}">
                <a16:creationId xmlns:a16="http://schemas.microsoft.com/office/drawing/2014/main" id="{753199D3-9F1B-E7A3-7ABE-48EA5871C20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85" y="1356054"/>
            <a:ext cx="11381565" cy="4289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97265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9726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241134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241134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7393838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7631582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22838" y="7512710"/>
            <a:ext cx="8979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Halaman 09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86207"/>
            <a:ext cx="8604398" cy="55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- Penyesuaian SIAMIDA </a:t>
            </a:r>
            <a:r>
              <a:rPr lang="en-US" sz="2600" b="1" dirty="0" err="1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Proker</a:t>
            </a: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600" b="1" dirty="0" err="1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Berbasis</a:t>
            </a: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IKU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73609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 Berbasis IKU - Perbandingan Alur Proses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041380" y="300838"/>
            <a:ext cx="924458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DD835">
                    <a:alpha val="3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3600" dirty="0"/>
          </a:p>
        </p:txBody>
      </p:sp>
      <p:pic>
        <p:nvPicPr>
          <p:cNvPr id="55" name="Google Shape;104;p21" title="PUTIK FLOW 2 - SIAMIDA X SIAP (2).png">
            <a:extLst>
              <a:ext uri="{FF2B5EF4-FFF2-40B4-BE49-F238E27FC236}">
                <a16:creationId xmlns:a16="http://schemas.microsoft.com/office/drawing/2014/main" id="{7660D16C-1B39-4B95-F40E-B287841CB99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97" y="1463412"/>
            <a:ext cx="11266682" cy="4905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102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410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679692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79692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6831482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7070141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63072" y="6950354"/>
            <a:ext cx="8595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Halaman 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00254"/>
            <a:ext cx="248991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 Anggaran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87629"/>
            <a:ext cx="3458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Tampilan Sistem Informasi Anggaran (SIAP)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150194" y="253289"/>
            <a:ext cx="81930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DD835">
                    <a:alpha val="3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3492094" y="5917082"/>
            <a:ext cx="5210251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39896" y="6065215"/>
            <a:ext cx="181051" cy="1810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35247" y="6059729"/>
            <a:ext cx="4534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1: Tampilan Dashboard Monitoring Anggaran Berbasis IKU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33195" y="1154887"/>
            <a:ext cx="9525305" cy="4572000"/>
          </a:xfrm>
          <a:prstGeom prst="roundRect">
            <a:avLst>
              <a:gd name="adj" fmla="val 500"/>
            </a:avLst>
          </a:prstGeom>
          <a:solidFill>
            <a:srgbClr val="F5F9FF"/>
          </a:solidFill>
          <a:ln w="25400">
            <a:solidFill>
              <a:srgbClr val="BBDEFB"/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190695" y="4219042"/>
            <a:ext cx="3810305" cy="381305"/>
          </a:xfrm>
          <a:prstGeom prst="roundRect">
            <a:avLst>
              <a:gd name="adj" fmla="val 179856"/>
            </a:avLst>
          </a:prstGeom>
          <a:solidFill>
            <a:srgbClr val="FFF9C4"/>
          </a:solidFill>
          <a:ln w="12700">
            <a:solidFill>
              <a:srgbClr val="FFF5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90949" y="4340657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00346" y="4304995"/>
            <a:ext cx="21698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with High-Res Image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720133" y="3095244"/>
            <a:ext cx="29242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Placeholder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308653" y="3524098"/>
            <a:ext cx="36960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Insert actual screenshot of SIAP Budget Module here.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t="-25" b="-25"/>
          <a:stretch/>
        </p:blipFill>
        <p:spPr>
          <a:xfrm>
            <a:off x="5753405" y="2285086"/>
            <a:ext cx="685800" cy="60990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352398" y="1174090"/>
            <a:ext cx="9486900" cy="4533595"/>
          </a:xfrm>
          <a:prstGeom prst="roundRect">
            <a:avLst>
              <a:gd name="adj" fmla="val 508"/>
            </a:avLst>
          </a:prstGeom>
          <a:noFill/>
          <a:ln w="1016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1352398" y="1174090"/>
            <a:ext cx="9486900" cy="3429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495044" y="1297534"/>
            <a:ext cx="95098" cy="95098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647749" y="1297534"/>
            <a:ext cx="95098" cy="95098"/>
          </a:xfrm>
          <a:prstGeom prst="ellipse">
            <a:avLst/>
          </a:prstGeom>
          <a:solidFill>
            <a:srgbClr val="FFD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800454" y="1297534"/>
            <a:ext cx="95098" cy="95098"/>
          </a:xfrm>
          <a:prstGeom prst="ellipse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Google Shape;110;p22">
            <a:extLst>
              <a:ext uri="{FF2B5EF4-FFF2-40B4-BE49-F238E27FC236}">
                <a16:creationId xmlns:a16="http://schemas.microsoft.com/office/drawing/2014/main" id="{6089A79C-FA95-58B0-A9CD-A19FE0C2B8EF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115" y="1516990"/>
            <a:ext cx="9457183" cy="41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102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410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679692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79692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6831482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7070141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02391" y="6950354"/>
            <a:ext cx="8211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Halaman 11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00254"/>
            <a:ext cx="48618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 Pelaporan Pelaksanaan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87629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Dokumentasi Pelaporan Program Kerja (Bagian 1)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76381" y="253289"/>
            <a:ext cx="695858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DD835">
                    <a:alpha val="3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3881628" y="5917082"/>
            <a:ext cx="4429354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9430" y="6065215"/>
            <a:ext cx="181051" cy="1810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24782" y="6059729"/>
            <a:ext cx="37536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2: Form Pelaporan Pelaksanaan Program Kerja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33195" y="1154887"/>
            <a:ext cx="9525305" cy="4572000"/>
          </a:xfrm>
          <a:prstGeom prst="roundRect">
            <a:avLst>
              <a:gd name="adj" fmla="val 500"/>
            </a:avLst>
          </a:prstGeom>
          <a:solidFill>
            <a:srgbClr val="F5F9FF"/>
          </a:solidFill>
          <a:ln w="25400">
            <a:solidFill>
              <a:srgbClr val="BBDEFB"/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190695" y="4219042"/>
            <a:ext cx="3810305" cy="381305"/>
          </a:xfrm>
          <a:prstGeom prst="roundRect">
            <a:avLst>
              <a:gd name="adj" fmla="val 179856"/>
            </a:avLst>
          </a:prstGeom>
          <a:solidFill>
            <a:srgbClr val="FFF9C4"/>
          </a:solidFill>
          <a:ln w="12700">
            <a:solidFill>
              <a:srgbClr val="FFF5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90949" y="4340657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00346" y="4304995"/>
            <a:ext cx="21698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with High-Res Image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193438" y="3095244"/>
            <a:ext cx="39822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Pelaporan (Bagian 1)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243730" y="3524098"/>
            <a:ext cx="382036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Insert screenshot of Implementation Report form - Part 1 here.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t="-25" b="-25"/>
          <a:stretch/>
        </p:blipFill>
        <p:spPr>
          <a:xfrm>
            <a:off x="5867705" y="2285086"/>
            <a:ext cx="457200" cy="60990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352398" y="1174090"/>
            <a:ext cx="9486900" cy="4533595"/>
          </a:xfrm>
          <a:prstGeom prst="roundRect">
            <a:avLst>
              <a:gd name="adj" fmla="val 508"/>
            </a:avLst>
          </a:prstGeom>
          <a:noFill/>
          <a:ln w="1016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1352398" y="1174090"/>
            <a:ext cx="9486900" cy="3429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495044" y="1297534"/>
            <a:ext cx="95098" cy="95098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647749" y="1297534"/>
            <a:ext cx="95098" cy="95098"/>
          </a:xfrm>
          <a:prstGeom prst="ellipse">
            <a:avLst/>
          </a:prstGeom>
          <a:solidFill>
            <a:srgbClr val="FFD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800454" y="1297534"/>
            <a:ext cx="95098" cy="95098"/>
          </a:xfrm>
          <a:prstGeom prst="ellipse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Google Shape;116;p23">
            <a:extLst>
              <a:ext uri="{FF2B5EF4-FFF2-40B4-BE49-F238E27FC236}">
                <a16:creationId xmlns:a16="http://schemas.microsoft.com/office/drawing/2014/main" id="{41DB4CFF-B7AB-164A-20AA-F14D2C0C17F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r="52478"/>
          <a:stretch/>
        </p:blipFill>
        <p:spPr>
          <a:xfrm>
            <a:off x="1451975" y="1592301"/>
            <a:ext cx="9276275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1029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410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679692"/>
            <a:ext cx="12191695" cy="7333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79692"/>
            <a:ext cx="12191695" cy="9144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972" b="972"/>
          <a:stretch/>
        </p:blipFill>
        <p:spPr>
          <a:xfrm>
            <a:off x="571500" y="6831482"/>
            <a:ext cx="514807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7070141"/>
            <a:ext cx="16212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BPSI Universitas Pakuan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869473" y="6950354"/>
            <a:ext cx="8503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Halaman 12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00254"/>
            <a:ext cx="48618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 Pelaporan Pelaksanaan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687629"/>
            <a:ext cx="4010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Tampilan Detail Pelaporan Pelaksanaan (Bagian 2)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187684" y="253289"/>
            <a:ext cx="7818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DD835">
                    <a:alpha val="3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3596335" y="5917082"/>
            <a:ext cx="5000854" cy="476402"/>
          </a:xfrm>
          <a:prstGeom prst="roundRect">
            <a:avLst>
              <a:gd name="adj" fmla="val 191939"/>
            </a:avLst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44138" y="6065215"/>
            <a:ext cx="181051" cy="1810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39489" y="6059729"/>
            <a:ext cx="4325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3: Tampilan Form Detail Anggaran &amp; Bukti Pelaksanaan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33195" y="1154887"/>
            <a:ext cx="9525305" cy="4572000"/>
          </a:xfrm>
          <a:prstGeom prst="roundRect">
            <a:avLst>
              <a:gd name="adj" fmla="val 500"/>
            </a:avLst>
          </a:prstGeom>
          <a:solidFill>
            <a:srgbClr val="F5F9FF"/>
          </a:solidFill>
          <a:ln w="25400">
            <a:solidFill>
              <a:srgbClr val="BBDEFB"/>
            </a:solidFill>
            <a:prstDash val="solid"/>
          </a:ln>
          <a:effectLst>
            <a:outerShdw blurRad="292100" dist="1016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190695" y="4219042"/>
            <a:ext cx="3810305" cy="381305"/>
          </a:xfrm>
          <a:prstGeom prst="roundRect">
            <a:avLst>
              <a:gd name="adj" fmla="val 179856"/>
            </a:avLst>
          </a:prstGeom>
          <a:solidFill>
            <a:srgbClr val="FFF9C4"/>
          </a:solidFill>
          <a:ln w="12700">
            <a:solidFill>
              <a:srgbClr val="FFF5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90949" y="4340657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00346" y="4304995"/>
            <a:ext cx="21698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F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with High-Res Image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720133" y="3095244"/>
            <a:ext cx="29242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Screenshot Placeholder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311396" y="3524098"/>
            <a:ext cx="36868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Insert actual screenshot of Execution Reporting Detail (Part 2) here.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/>
          <a:stretch/>
        </p:blipFill>
        <p:spPr>
          <a:xfrm>
            <a:off x="5790895" y="2285086"/>
            <a:ext cx="609905" cy="60990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352398" y="1174090"/>
            <a:ext cx="9486900" cy="4533595"/>
          </a:xfrm>
          <a:prstGeom prst="roundRect">
            <a:avLst>
              <a:gd name="adj" fmla="val 508"/>
            </a:avLst>
          </a:prstGeom>
          <a:noFill/>
          <a:ln w="1016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1352398" y="1174090"/>
            <a:ext cx="9486900" cy="3429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495044" y="1297534"/>
            <a:ext cx="95098" cy="95098"/>
          </a:xfrm>
          <a:prstGeom prst="ellipse">
            <a:avLst/>
          </a:prstGeom>
          <a:solidFill>
            <a:srgbClr val="FF52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647749" y="1297534"/>
            <a:ext cx="95098" cy="95098"/>
          </a:xfrm>
          <a:prstGeom prst="ellipse">
            <a:avLst/>
          </a:prstGeom>
          <a:solidFill>
            <a:srgbClr val="FFD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800454" y="1297534"/>
            <a:ext cx="95098" cy="95098"/>
          </a:xfrm>
          <a:prstGeom prst="ellipse">
            <a:avLst/>
          </a:prstGeom>
          <a:solidFill>
            <a:srgbClr val="69F0A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Google Shape;122;p24">
            <a:extLst>
              <a:ext uri="{FF2B5EF4-FFF2-40B4-BE49-F238E27FC236}">
                <a16:creationId xmlns:a16="http://schemas.microsoft.com/office/drawing/2014/main" id="{FEC56DEB-99D5-BF92-A209-6FA76C3207D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7697"/>
          <a:stretch/>
        </p:blipFill>
        <p:spPr>
          <a:xfrm>
            <a:off x="1445162" y="1516990"/>
            <a:ext cx="9304353" cy="4161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8707" y="-1143000"/>
            <a:ext cx="4286707" cy="4286707"/>
          </a:xfrm>
          <a:prstGeom prst="ellipse">
            <a:avLst/>
          </a:prstGeom>
          <a:solidFill>
            <a:srgbClr val="E3F2F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761695" y="4286707"/>
            <a:ext cx="3333902" cy="3333902"/>
          </a:xfrm>
          <a:prstGeom prst="ellipse">
            <a:avLst/>
          </a:prstGeom>
          <a:solidFill>
            <a:srgbClr val="FFFDE7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00854" y="907085"/>
            <a:ext cx="2190902" cy="1047902"/>
          </a:xfrm>
          <a:prstGeom prst="roundRect">
            <a:avLst>
              <a:gd name="adj" fmla="val 11899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65" b="65"/>
          <a:stretch/>
        </p:blipFill>
        <p:spPr>
          <a:xfrm>
            <a:off x="5287061" y="1050646"/>
            <a:ext cx="1619402" cy="7616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3947465"/>
            <a:ext cx="761695" cy="57607"/>
          </a:xfrm>
          <a:prstGeom prst="roundRect">
            <a:avLst>
              <a:gd name="adj" fmla="val 793654"/>
            </a:avLst>
          </a:prstGeom>
          <a:solidFill>
            <a:srgbClr val="FDD8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564892" y="4337914"/>
            <a:ext cx="7067398" cy="1123798"/>
          </a:xfrm>
          <a:prstGeom prst="roundRect">
            <a:avLst>
              <a:gd name="adj" fmla="val 13791"/>
            </a:avLst>
          </a:prstGeom>
          <a:solidFill>
            <a:srgbClr val="FFFFFF"/>
          </a:solidFill>
          <a:ln w="12700">
            <a:solidFill>
              <a:srgbClr val="F0F4C3"/>
            </a:solidFill>
            <a:prstDash val="solid"/>
          </a:ln>
          <a:effectLst>
            <a:outerShdw blurRad="292100" dist="101600" dir="5400000" algn="bl" rotWithShape="0">
              <a:srgbClr val="0D47A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050438" y="4685386"/>
            <a:ext cx="428854" cy="428854"/>
          </a:xfrm>
          <a:prstGeom prst="ellipse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56" b="-856"/>
          <a:stretch/>
        </p:blipFill>
        <p:spPr>
          <a:xfrm>
            <a:off x="3197657" y="4808830"/>
            <a:ext cx="133502" cy="18105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29123" y="4685386"/>
            <a:ext cx="428854" cy="428854"/>
          </a:xfrm>
          <a:prstGeom prst="ellipse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52567" y="4808830"/>
            <a:ext cx="181051" cy="18105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427671" y="4685386"/>
            <a:ext cx="428854" cy="428854"/>
          </a:xfrm>
          <a:prstGeom prst="ellipse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51115" y="4808830"/>
            <a:ext cx="181051" cy="18105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26764" y="2136038"/>
            <a:ext cx="5058461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47A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17" name="Text 11"/>
          <p:cNvSpPr txBox="1"/>
          <p:nvPr/>
        </p:nvSpPr>
        <p:spPr>
          <a:xfrm>
            <a:off x="2118665" y="3052267"/>
            <a:ext cx="81061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46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Digitalisasi Monitoring Penyerapan Anggaran Berbasis IKU melalui Integrasi SIAMIDA Proker x SIAP Anggaran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621938" y="4595774"/>
            <a:ext cx="6327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LOKASI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3621938" y="4817059"/>
            <a:ext cx="134691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Universitas Pakuan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3621938" y="5020056"/>
            <a:ext cx="12810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Bogor, Jawa Barat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900623" y="4697273"/>
            <a:ext cx="7470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900623" y="4918558"/>
            <a:ext cx="11667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bpsi.unpak.ac.id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999171" y="4697273"/>
            <a:ext cx="5660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47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999171" y="4918558"/>
            <a:ext cx="12518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55A6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bpsi@unpak.ac.id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6368796"/>
            <a:ext cx="12191695" cy="4956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0" y="6368796"/>
            <a:ext cx="121916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rcRect t="710" b="710"/>
          <a:stretch/>
        </p:blipFill>
        <p:spPr>
          <a:xfrm>
            <a:off x="571500" y="6522415"/>
            <a:ext cx="409651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70762" y="6520586"/>
            <a:ext cx="333573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A4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Bagian Perencanaan dan Sistem Informasi (BPSI)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062058" y="6539789"/>
            <a:ext cx="16596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© 2025 Universitas Pakuan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763</Words>
  <Application>Microsoft Office PowerPoint</Application>
  <PresentationFormat>Widescreen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Montserrat</vt:lpstr>
      <vt:lpstr>Poppins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ARIES MAESYA</cp:lastModifiedBy>
  <cp:revision>9</cp:revision>
  <dcterms:created xsi:type="dcterms:W3CDTF">2025-12-05T09:32:36Z</dcterms:created>
  <dcterms:modified xsi:type="dcterms:W3CDTF">2025-12-05T09:44:32Z</dcterms:modified>
</cp:coreProperties>
</file>